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 /  URDU, REIMAGINED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6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955280" y="-731520"/>
            <a:ext cx="4754880" cy="4754880"/>
          </a:xfrm>
          <a:prstGeom prst="arc">
            <a:avLst/>
          </a:prstGeom>
          <a:noFill/>
          <a:ln w="63500">
            <a:solidFill>
              <a:srgbClr val="F2BD68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0">
            <a:off x="8412480" y="3566160"/>
            <a:ext cx="4297680" cy="4297680"/>
          </a:xfrm>
          <a:prstGeom prst="arc">
            <a:avLst/>
          </a:prstGeom>
          <a:noFill/>
          <a:ln w="63500">
            <a:solidFill>
              <a:srgbClr val="D86F45">
                <a:alpha val="85000"/>
              </a:srgbClr>
            </a:solidFill>
            <a:prstDash val="solid"/>
          </a:ln>
        </p:spPr>
      </p:sp>
      <p:pic>
        <p:nvPicPr>
          <p:cNvPr id="4" name="Image 0" descr="C:\Users\Ashja\.qoder\Zabandaan\zabandaan\presentation-images\WhatsApp Image 2026-09-04 at 4.47.11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9436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2148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spc="20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58368" y="2898648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Urdu.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your way.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434340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9F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gamified Urdu-learning experience for the new generation and everyone ready to reconnect with the language.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532120"/>
            <a:ext cx="1783080" cy="274320"/>
          </a:xfrm>
          <a:prstGeom prst="roundRect">
            <a:avLst>
              <a:gd name="adj" fmla="val 40000"/>
            </a:avLst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PRESENTATION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06640" y="5303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make practice feel like progress.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/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Urdu learning should not feel like a chore.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motivation is there. The learning experience often is not.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73152" cy="224028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engagement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2971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practice can feel repetitive, especially for learners who grew up with interactive digital experiences.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965960"/>
            <a:ext cx="73152" cy="2240280"/>
          </a:xfrm>
          <a:prstGeom prst="rect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48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practice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532888"/>
            <a:ext cx="2971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Learners need one place to build fundamentals, vocabulary, comprehension, pronunciation, and confidence.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65960"/>
            <a:ext cx="73152" cy="224028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48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 of getting it wrong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532888"/>
            <a:ext cx="2971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immediate feedback, handwriting, pronunciation, and word meaning remain difficult to practice alone.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5212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Urdu practice into a small, rewarding habit: choose a challenge, get feedback, earn points, come back tomorrow.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WHO IT SERVES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app, several reasons to learn.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meets learners at different starting points without making anyone feel behind.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new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608" y="224942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Wants a playful, visual, mobile-first way to connect with Urdu.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30352" cy="53035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0665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13448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Heritage learners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13448" y="224942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Wants to rebuild vocabulary, reading confidence, and cultural connection.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30352" cy="530352"/>
          </a:xfrm>
          <a:prstGeom prst="ellipse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0390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35608" y="3566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 beginners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Wants a welcoming entry point with clear progress and no pressure.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30352" cy="530352"/>
          </a:xfrm>
          <a:prstGeom prst="ellipse">
            <a:avLst/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80390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3448" y="3566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improvers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3448" y="398678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Wants short practice sessions that fit around real life.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828800"/>
            <a:ext cx="0" cy="338328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486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common need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5440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learning space that feels inviting, useful, and distinctly Urdu.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makes language practice feel playable.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structured learning journey wrapped in feedback, variety, and small wins.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243B3A"/>
          </a:solidFill>
          <a:ln w="12700">
            <a:solidFill>
              <a:srgbClr val="243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8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a skill or challenge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2770632"/>
            <a:ext cx="320040" cy="320040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8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through interaction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770632"/>
            <a:ext cx="320040" cy="320040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8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 Urdu aloud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66760" y="2770632"/>
            <a:ext cx="320040" cy="320040"/>
          </a:xfrm>
          <a:prstGeom prst="chevron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6968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8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points and progress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95604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is visible. Practice is varied. Urdu feels alive.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THE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ways to build an Urdu habit.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dashboard turns a broad language goal into focused, approachable choices.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148840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95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Alphabets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Trace, recognize, and build writing confidence.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25696" y="18288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2148840"/>
            <a:ext cx="530352" cy="53035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295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21808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21808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number recognition and recall.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93024" y="18288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148840"/>
            <a:ext cx="530352" cy="530352"/>
          </a:xfrm>
          <a:prstGeom prst="ellipse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295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89136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Adjectives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89136" y="2395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useful vocabulary through levels.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4290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49040"/>
            <a:ext cx="530352" cy="530352"/>
          </a:xfrm>
          <a:prstGeom prst="ellipse">
            <a:avLst/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895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expressions and what they really mean.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25696" y="34290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3749040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895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Poetry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21808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Read, listen, and explore meaning.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93024" y="3429000"/>
            <a:ext cx="3337560" cy="123444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3749040"/>
            <a:ext cx="530352" cy="53035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895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89136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89136" y="3995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vocabulary review into a puzzle.</a:t>
            </a:r>
            <a:endParaRPr lang="en-US" sz="1000" dirty="0"/>
          </a:p>
        </p:txBody>
      </p:sp>
      <p:pic>
        <p:nvPicPr>
          <p:cNvPr id="35" name="Image 0" descr="C:\Users\Ashja\.qoder\Zabandaan\zabandaan\presentation-images\WhatsApp Image 2026-09-04 at 4.55.17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4782312"/>
            <a:ext cx="2697480" cy="129844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26364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learning desk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THE LEARNING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interaction has a job.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combines exposure, action, feedback, and repetition in one continuous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00600" y="1847088"/>
            <a:ext cx="2468880" cy="877824"/>
          </a:xfrm>
          <a:prstGeom prst="ellipse">
            <a:avLst/>
          </a:prstGeom>
          <a:solidFill>
            <a:srgbClr val="FFFDF7"/>
          </a:solidFill>
          <a:ln w="25400">
            <a:solidFill>
              <a:srgbClr val="D86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2322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examples make new words memorable.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0" y="3172968"/>
            <a:ext cx="2468880" cy="877824"/>
          </a:xfrm>
          <a:prstGeom prst="ellipse">
            <a:avLst/>
          </a:prstGeom>
          <a:solidFill>
            <a:srgbClr val="FFFDF7"/>
          </a:solidFill>
          <a:ln w="25400">
            <a:solidFill>
              <a:srgbClr val="176B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Trace, match, solve, choose, and search.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4498848"/>
            <a:ext cx="2468880" cy="877824"/>
          </a:xfrm>
          <a:prstGeom prst="ellipse">
            <a:avLst/>
          </a:prstGeom>
          <a:solidFill>
            <a:srgbClr val="FFFDF7"/>
          </a:solidFill>
          <a:ln w="25400">
            <a:solidFill>
              <a:srgbClr val="F2BD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4974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pronunciation makes Urdu audible.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3172968"/>
            <a:ext cx="2468880" cy="877824"/>
          </a:xfrm>
          <a:prstGeom prst="ellipse">
            <a:avLst/>
          </a:prstGeom>
          <a:solidFill>
            <a:srgbClr val="FFFDF7"/>
          </a:solidFill>
          <a:ln w="25400">
            <a:solidFill>
              <a:srgbClr val="3D86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and levels make progress tangible.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83480" y="2944368"/>
            <a:ext cx="2103120" cy="1325880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2461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/ CORE FEATURE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the shape of the language.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Alphabet tracing turns recognition into muscle memory, with accuracy feedback along the way.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3749040" cy="3337560"/>
          </a:xfrm>
          <a:prstGeom prst="roundRect">
            <a:avLst>
              <a:gd name="adj" fmla="val 2192"/>
            </a:avLst>
          </a:prstGeom>
          <a:solidFill>
            <a:srgbClr val="243B3A"/>
          </a:solidFill>
          <a:ln w="12700">
            <a:solidFill>
              <a:srgbClr val="243B3A"/>
            </a:solidFill>
            <a:prstDash val="solid"/>
          </a:ln>
        </p:spPr>
      </p:sp>
      <p:pic>
        <p:nvPicPr>
          <p:cNvPr id="6" name="Image 0" descr="C:\Users\Ashja\.qoder\Zabandaan\zabandaan\client\public\images\alphabets\alif-an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40280"/>
            <a:ext cx="2697480" cy="2057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4370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ا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88720" y="4864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Alif / anar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182880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28800"/>
            <a:ext cx="73152" cy="141732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2395728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 the guided letter path and build writing confidence.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182880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1828800"/>
            <a:ext cx="73152" cy="141732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0" y="2395728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feedback helps learners understand and improve.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92040" y="36118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3611880"/>
            <a:ext cx="73152" cy="1417320"/>
          </a:xfrm>
          <a:prstGeom prst="rect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120640" y="4178808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the letter shape to a familiar word and image.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36118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92440" y="3611880"/>
            <a:ext cx="73152" cy="1417320"/>
          </a:xfrm>
          <a:prstGeom prst="rect">
            <a:avLst/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21040" y="4178808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 pronunciation while learning the sound-symbol link.</a:t>
            </a:r>
            <a:endParaRPr lang="en-US" sz="1100" dirty="0"/>
          </a:p>
        </p:txBody>
      </p:sp>
      <p:pic>
        <p:nvPicPr>
          <p:cNvPr id="25" name="Image 1" descr="C:\Users\Ashja\.qoder\Zabandaan\zabandaan\presentation-images\WhatsApp Image 2026-09-04 at 4.56.40 P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5230368"/>
            <a:ext cx="1920240" cy="1024128"/>
          </a:xfrm>
          <a:prstGeom prst="rect">
            <a:avLst/>
          </a:prstGeom>
        </p:spPr>
      </p:pic>
      <p:pic>
        <p:nvPicPr>
          <p:cNvPr id="26" name="Image 2" descr="C:\Users\Ashja\.qoder\Zabandaan\zabandaan\presentation-images\WhatsApp Image 2026-09-04 at 4.57.09 P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230368"/>
            <a:ext cx="1920240" cy="10241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06840" y="5504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screens from the working app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/ VOCABULARY IN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become easier when they have a world around them.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Images, audio, and escalating difficulty turn memorization into meaningful recall.</a:t>
            </a:r>
            <a:endParaRPr lang="en-US" sz="1200" dirty="0"/>
          </a:p>
        </p:txBody>
      </p:sp>
      <p:pic>
        <p:nvPicPr>
          <p:cNvPr id="5" name="Image 0" descr="C:\Users\Ashja\.qoder\Zabandaan\zabandaan\client\public\images\adjectives\khoobsur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خوبصورت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54681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khoobsurat  /  beautiful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828800"/>
            <a:ext cx="73152" cy="141732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vocabulary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0" y="239572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Adjectives and everyday words arrive with a visual anchor.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18120" y="18288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8120" y="1828800"/>
            <a:ext cx="73152" cy="141732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up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0" y="239572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Difficulty grows so learners can move from familiar to fluent.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43400" y="3611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3611880"/>
            <a:ext cx="73152" cy="1417320"/>
          </a:xfrm>
          <a:prstGeom prst="rect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audio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417880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and repeat wherever pronunciation matters.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18120" y="3611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18120" y="3611880"/>
            <a:ext cx="73152" cy="1417320"/>
          </a:xfrm>
          <a:prstGeom prst="rect">
            <a:avLst/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recall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46720" y="417880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search and challenges make review active, not passive.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/ CULTURAL FLUENCY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Idioms teach the Urdu behind the words.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helps learners understand expression, not only translation.</a:t>
            </a:r>
            <a:endParaRPr lang="en-US" sz="1200" dirty="0"/>
          </a:p>
        </p:txBody>
      </p:sp>
      <p:pic>
        <p:nvPicPr>
          <p:cNvPr id="5" name="Image 0" descr="C:\Users\Ashja\.qoder\Zabandaan\zabandaan\presentation-images\WhatsApp Image 2026-09-04 at 4.58.11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370332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2303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آنکھوں کا تارا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59612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aankhon ka tara  /  apple of one's eye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66360" y="1965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literal words to lived meaning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212080" y="2651760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27157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37960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 the visual idea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3364992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34290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37960" y="3410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it to natural English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12080" y="4078224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414223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37960" y="4123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from approachable to challenging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12080" y="4791456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48554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537960" y="4837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 how it sounds in Urdu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/ LANGUAGE WITH A VOICE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Poetry makes Urdu feel close.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 and sound work together: read the couplet, explore the words, listen aloud.</a:t>
            </a:r>
            <a:endParaRPr lang="en-US" sz="1200" dirty="0"/>
          </a:p>
        </p:txBody>
      </p:sp>
      <p:pic>
        <p:nvPicPr>
          <p:cNvPr id="5" name="Image 0" descr="C:\Users\Ashja\.qoder\Zabandaan\zabandaan\presentation-images\WhatsApp Image 2026-09-04 at 4.59.56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5720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20574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 couplet.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 its meaning.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 it come alive.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80644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is available across the experience, so pronunciation is never an afterthought.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06440" y="4892040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5038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♪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5047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anywhere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MOTIVATION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should be easy to see.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 is optional. Momentum is always available.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0240"/>
            <a:ext cx="73152" cy="192024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031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to grow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487168"/>
            <a:ext cx="2880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points, track progress, and build a personal learning journey.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73152" cy="192024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031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as a guest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2880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immediately and explore without a commitment barrier.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920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920240"/>
            <a:ext cx="73152" cy="1920240"/>
          </a:xfrm>
          <a:prstGeom prst="rect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1031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487168"/>
            <a:ext cx="2880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effort visible and give every session a satisfying finish.</a:t>
            </a:r>
            <a:endParaRPr lang="en-US" sz="1100" dirty="0"/>
          </a:p>
        </p:txBody>
      </p:sp>
      <p:pic>
        <p:nvPicPr>
          <p:cNvPr id="17" name="Image 0" descr="C:\Users\Ashja\.qoder\Zabandaan\zabandaan\presentation-images\WhatsApp Image 2026-09-04 at 4.55.53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24528"/>
            <a:ext cx="2331720" cy="18745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01568" y="45720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account creation keeps the first step welcoming.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" y="4572000"/>
            <a:ext cx="10195560" cy="731520"/>
          </a:xfrm>
          <a:prstGeom prst="roundRect">
            <a:avLst>
              <a:gd name="adj" fmla="val 10000"/>
            </a:avLst>
          </a:prstGeom>
          <a:solidFill>
            <a:srgbClr val="E6E0CC"/>
          </a:solidFill>
          <a:ln w="12700">
            <a:solidFill>
              <a:srgbClr val="E6E0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FRICTION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0" y="4782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657600" y="4828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PRACTICE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06440" y="4782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720840" y="4828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D86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 PROGRESS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78240" y="4782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46920" y="4828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LASTING HABIT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WHAT MAKES IT DIFFERENT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innovation is in the combination.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 connects literacy, culture, sound, and game design in one coherent experience.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Culturally grounded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8470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Idioms and poetry make the app about how Urdu is actually lived.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08760" y="2359152"/>
            <a:ext cx="932688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163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Multi-sensory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Visuals, handwriting, text, and audio reinforce one another.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3346704"/>
            <a:ext cx="932688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039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803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by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8221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Difficulty levels support both first steps and deeper practice.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4334256"/>
            <a:ext cx="932688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7914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D86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Welcoming by default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8097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Guest mode lowers the barrier; accounts reward commitment.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08760" y="5321808"/>
            <a:ext cx="932688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/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focused stack for a focused experience.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architecture keeps the learning loop fast, persistent, and easy to extend.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842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31720" y="1892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Vite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9110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learning UI, routes, game modules, tracing canvas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89888" y="2468880"/>
            <a:ext cx="905256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986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8254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Authentication, content, progress, and points endpoints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89888" y="3383280"/>
            <a:ext cx="905256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130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1720" y="3721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7398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Local-first persistence for users, content, progress, and 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89888" y="4297680"/>
            <a:ext cx="9052560" cy="0"/>
          </a:xfrm>
          <a:prstGeom prst="line">
            <a:avLst/>
          </a:prstGeom>
          <a:noFill/>
          <a:ln w="12700">
            <a:solidFill>
              <a:srgbClr val="DFD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6344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2744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31720" y="4636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+ visual assets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6542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Pronunciation clips and illustrated learning content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a real product workflow: content can grow without rewriting the learning experience.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/ FEASIBILITY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more than an idea. It is working software.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5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experience is already built, connected, and ready to demonstrate.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21408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677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093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2404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and guest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98848" y="18745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121408"/>
            <a:ext cx="530352" cy="53035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677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093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404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learning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87452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2121408"/>
            <a:ext cx="530352" cy="530352"/>
          </a:xfrm>
          <a:prstGeom prst="ellipse">
            <a:avLst/>
          </a:prstGeom>
          <a:solidFill>
            <a:srgbClr val="F2BD68"/>
          </a:solidFill>
          <a:ln w="12700">
            <a:solidFill>
              <a:srgbClr val="F2BD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2677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8280" y="2093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98280" y="2404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Tracing accuracy and game results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" y="329184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538728"/>
            <a:ext cx="530352" cy="530352"/>
          </a:xfrm>
          <a:prstGeom prst="ellipse">
            <a:avLst/>
          </a:prstGeom>
          <a:solidFill>
            <a:srgbClr val="3D8661"/>
          </a:solidFill>
          <a:ln w="12700">
            <a:solidFill>
              <a:srgbClr val="3D86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685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511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D86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8221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and saved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98848" y="329184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538728"/>
            <a:ext cx="530352" cy="530352"/>
          </a:xfrm>
          <a:prstGeom prst="ellipse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685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511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6B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38221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and visual learning assets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47888" y="329184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DFD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3538728"/>
            <a:ext cx="530352" cy="530352"/>
          </a:xfrm>
          <a:prstGeom prst="ellipse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3685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98280" y="3511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98280" y="38221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Seeded content and API routes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230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86F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Demo-ready today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51937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43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learner can enter, choose, practice, listen, earn, and return.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00000">
            <a:off x="7498080" y="-914400"/>
            <a:ext cx="5486400" cy="5486400"/>
          </a:xfrm>
          <a:prstGeom prst="arc">
            <a:avLst/>
          </a:prstGeom>
          <a:noFill/>
          <a:ln w="63500">
            <a:solidFill>
              <a:srgbClr val="176B68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800000">
            <a:off x="-914400" y="4480560"/>
            <a:ext cx="4937760" cy="4937760"/>
          </a:xfrm>
          <a:prstGeom prst="arc">
            <a:avLst/>
          </a:prstGeom>
          <a:noFill/>
          <a:ln w="63500">
            <a:solidFill>
              <a:srgbClr val="D86F45">
                <a:alpha val="88000"/>
              </a:srgbClr>
            </a:solidFill>
            <a:prstDash val="solid"/>
          </a:ln>
        </p:spPr>
      </p:sp>
      <p:pic>
        <p:nvPicPr>
          <p:cNvPr id="4" name="Image 0" descr="C:\Users\Ashja\.qoder\Zabandaan\zabandaan\presentation-images\WhatsApp Image 2026-09-04 at 4.47.11 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40080"/>
            <a:ext cx="1115568" cy="11155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21488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spc="20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ZABANDAAN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816352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Urdu is not just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to study.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D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something to feel.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4892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9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playful path to language, culture, and confidence.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532120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98080" y="5230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Urdu. Play your way.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1112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8757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Zabandaan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Zabandaan: Learn Urdu, Playfully</dc:title>
  <dc:subject>Gamified Urdu learning</dc:subject>
  <dc:creator>Zabandaan</dc:creator>
  <cp:lastModifiedBy>Zabandaan</cp:lastModifiedBy>
  <cp:revision>1</cp:revision>
  <dcterms:created xsi:type="dcterms:W3CDTF">2026-09-04T12:47:49Z</dcterms:created>
  <dcterms:modified xsi:type="dcterms:W3CDTF">2026-09-04T12:47:49Z</dcterms:modified>
</cp:coreProperties>
</file>